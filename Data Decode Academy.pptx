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66" r:id="rId4"/>
    <p:sldId id="267" r:id="rId5"/>
    <p:sldId id="257" r:id="rId6"/>
    <p:sldId id="259" r:id="rId7"/>
    <p:sldId id="260" r:id="rId8"/>
    <p:sldId id="261" r:id="rId9"/>
    <p:sldId id="271" r:id="rId10"/>
    <p:sldId id="262" r:id="rId11"/>
    <p:sldId id="270" r:id="rId12"/>
    <p:sldId id="268" r:id="rId13"/>
    <p:sldId id="263" r:id="rId14"/>
    <p:sldId id="269" r:id="rId15"/>
    <p:sldId id="265" r:id="rId16"/>
    <p:sldId id="264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hish shivani" userId="d3ebea4f6ebf4de2" providerId="LiveId" clId="{6DD481F3-F973-4E43-BC4B-4229089860F3}"/>
    <pc:docChg chg="undo custSel addSld modSld">
      <pc:chgData name="kashish shivani" userId="d3ebea4f6ebf4de2" providerId="LiveId" clId="{6DD481F3-F973-4E43-BC4B-4229089860F3}" dt="2025-09-24T11:44:30.280" v="140" actId="20577"/>
      <pc:docMkLst>
        <pc:docMk/>
      </pc:docMkLst>
      <pc:sldChg chg="modSp mod">
        <pc:chgData name="kashish shivani" userId="d3ebea4f6ebf4de2" providerId="LiveId" clId="{6DD481F3-F973-4E43-BC4B-4229089860F3}" dt="2025-09-24T11:44:30.280" v="140" actId="20577"/>
        <pc:sldMkLst>
          <pc:docMk/>
          <pc:sldMk cId="2228536646" sldId="256"/>
        </pc:sldMkLst>
        <pc:spChg chg="mod">
          <ac:chgData name="kashish shivani" userId="d3ebea4f6ebf4de2" providerId="LiveId" clId="{6DD481F3-F973-4E43-BC4B-4229089860F3}" dt="2025-09-24T11:44:30.280" v="140" actId="20577"/>
          <ac:spMkLst>
            <pc:docMk/>
            <pc:sldMk cId="2228536646" sldId="256"/>
            <ac:spMk id="3" creationId="{B3223C2B-B5A3-42CE-8F29-4C11E7858913}"/>
          </ac:spMkLst>
        </pc:spChg>
      </pc:sldChg>
      <pc:sldChg chg="modSp mod">
        <pc:chgData name="kashish shivani" userId="d3ebea4f6ebf4de2" providerId="LiveId" clId="{6DD481F3-F973-4E43-BC4B-4229089860F3}" dt="2025-09-24T09:09:36.286" v="14" actId="1076"/>
        <pc:sldMkLst>
          <pc:docMk/>
          <pc:sldMk cId="872996112" sldId="265"/>
        </pc:sldMkLst>
        <pc:spChg chg="mod">
          <ac:chgData name="kashish shivani" userId="d3ebea4f6ebf4de2" providerId="LiveId" clId="{6DD481F3-F973-4E43-BC4B-4229089860F3}" dt="2025-09-24T09:09:36.286" v="14" actId="1076"/>
          <ac:spMkLst>
            <pc:docMk/>
            <pc:sldMk cId="872996112" sldId="265"/>
            <ac:spMk id="3" creationId="{43DAEB12-0DC2-4F96-A6A8-C6F094DDD3C0}"/>
          </ac:spMkLst>
        </pc:spChg>
      </pc:sldChg>
      <pc:sldChg chg="addSp modSp new mod">
        <pc:chgData name="kashish shivani" userId="d3ebea4f6ebf4de2" providerId="LiveId" clId="{6DD481F3-F973-4E43-BC4B-4229089860F3}" dt="2025-09-24T09:13:10.721" v="103" actId="20577"/>
        <pc:sldMkLst>
          <pc:docMk/>
          <pc:sldMk cId="2663578180" sldId="271"/>
        </pc:sldMkLst>
        <pc:spChg chg="mod">
          <ac:chgData name="kashish shivani" userId="d3ebea4f6ebf4de2" providerId="LiveId" clId="{6DD481F3-F973-4E43-BC4B-4229089860F3}" dt="2025-09-24T09:13:10.721" v="103" actId="20577"/>
          <ac:spMkLst>
            <pc:docMk/>
            <pc:sldMk cId="2663578180" sldId="271"/>
            <ac:spMk id="2" creationId="{4204839A-E2E0-4FCE-B39B-CD47EE9CDD0B}"/>
          </ac:spMkLst>
        </pc:spChg>
        <pc:picChg chg="add mod">
          <ac:chgData name="kashish shivani" userId="d3ebea4f6ebf4de2" providerId="LiveId" clId="{6DD481F3-F973-4E43-BC4B-4229089860F3}" dt="2025-09-24T09:11:16.152" v="17" actId="1076"/>
          <ac:picMkLst>
            <pc:docMk/>
            <pc:sldMk cId="2663578180" sldId="271"/>
            <ac:picMk id="3" creationId="{7DC65B0D-2F60-4F69-A1C3-06E27BBB715E}"/>
          </ac:picMkLst>
        </pc:picChg>
      </pc:sldChg>
      <pc:sldChg chg="addSp delSp modSp new mod">
        <pc:chgData name="kashish shivani" userId="d3ebea4f6ebf4de2" providerId="LiveId" clId="{6DD481F3-F973-4E43-BC4B-4229089860F3}" dt="2025-09-24T11:44:11.465" v="134" actId="403"/>
        <pc:sldMkLst>
          <pc:docMk/>
          <pc:sldMk cId="408891971" sldId="272"/>
        </pc:sldMkLst>
        <pc:spChg chg="add del mod">
          <ac:chgData name="kashish shivani" userId="d3ebea4f6ebf4de2" providerId="LiveId" clId="{6DD481F3-F973-4E43-BC4B-4229089860F3}" dt="2025-09-24T11:43:16.808" v="110" actId="767"/>
          <ac:spMkLst>
            <pc:docMk/>
            <pc:sldMk cId="408891971" sldId="272"/>
            <ac:spMk id="2" creationId="{A7A71AB8-F0AD-4B98-8626-C6014BACC18F}"/>
          </ac:spMkLst>
        </pc:spChg>
        <pc:spChg chg="add mod">
          <ac:chgData name="kashish shivani" userId="d3ebea4f6ebf4de2" providerId="LiveId" clId="{6DD481F3-F973-4E43-BC4B-4229089860F3}" dt="2025-09-24T11:44:11.465" v="134" actId="403"/>
          <ac:spMkLst>
            <pc:docMk/>
            <pc:sldMk cId="408891971" sldId="272"/>
            <ac:spMk id="3" creationId="{90BE9645-D530-400D-8A18-B3725984D25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90B1-4CF0-41F6-9548-69BA4D2A7B9C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D4C3-820F-4FD6-9369-6143AACE2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991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90B1-4CF0-41F6-9548-69BA4D2A7B9C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D4C3-820F-4FD6-9369-6143AACE2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581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90B1-4CF0-41F6-9548-69BA4D2A7B9C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D4C3-820F-4FD6-9369-6143AACE2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669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90B1-4CF0-41F6-9548-69BA4D2A7B9C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D4C3-820F-4FD6-9369-6143AACE2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149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90B1-4CF0-41F6-9548-69BA4D2A7B9C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D4C3-820F-4FD6-9369-6143AACE2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744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90B1-4CF0-41F6-9548-69BA4D2A7B9C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D4C3-820F-4FD6-9369-6143AACE2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389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90B1-4CF0-41F6-9548-69BA4D2A7B9C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D4C3-820F-4FD6-9369-6143AACE2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700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90B1-4CF0-41F6-9548-69BA4D2A7B9C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D4C3-820F-4FD6-9369-6143AACE2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167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90B1-4CF0-41F6-9548-69BA4D2A7B9C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D4C3-820F-4FD6-9369-6143AACE2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14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90B1-4CF0-41F6-9548-69BA4D2A7B9C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D4C3-820F-4FD6-9369-6143AACE2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15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90B1-4CF0-41F6-9548-69BA4D2A7B9C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D4C3-820F-4FD6-9369-6143AACE2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957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90B1-4CF0-41F6-9548-69BA4D2A7B9C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D4C3-820F-4FD6-9369-6143AACE2541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754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90B1-4CF0-41F6-9548-69BA4D2A7B9C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D4C3-820F-4FD6-9369-6143AACE2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723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90B1-4CF0-41F6-9548-69BA4D2A7B9C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D4C3-820F-4FD6-9369-6143AACE2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282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90B1-4CF0-41F6-9548-69BA4D2A7B9C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D4C3-820F-4FD6-9369-6143AACE2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1042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90B1-4CF0-41F6-9548-69BA4D2A7B9C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D4C3-820F-4FD6-9369-6143AACE2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9162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B90B1-4CF0-41F6-9548-69BA4D2A7B9C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3D4C3-820F-4FD6-9369-6143AACE2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522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D7B90B1-4CF0-41F6-9548-69BA4D2A7B9C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D63D4C3-820F-4FD6-9369-6143AACE2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4449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C2BE2-DDC4-4E88-A7DB-643547992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769538"/>
            <a:ext cx="9440034" cy="1828801"/>
          </a:xfrm>
        </p:spPr>
        <p:txBody>
          <a:bodyPr>
            <a:noAutofit/>
          </a:bodyPr>
          <a:lstStyle/>
          <a:p>
            <a:r>
              <a:rPr lang="en-US" sz="3600" b="1" dirty="0"/>
              <a:t>Data Decode Academy: Performance Metrics 2025</a:t>
            </a:r>
            <a:endParaRPr lang="en-IN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23C2B-B5A3-42CE-8F29-4C11E78589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A Review of Business &amp; Marketing Insights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28536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59441-43F6-414C-A6B2-C61AF8030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33737C-D93A-4404-8AAA-E1A391CA3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82" y="1980653"/>
            <a:ext cx="11116236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Source: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The data was collected from internal business systems, including our sales database, marketing platform, and consultant performance tracking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Time Period: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The dataset covers a full calendar year, from January 1, 2025, to December 31, 2025. This allows for a complete year-end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B4A75C3-CFBF-4989-9E23-244BD48F1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82" y="3106467"/>
            <a:ext cx="1137621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Key Columns: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The dataset includes several key fields which were used to create the dashboard, such 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Date: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The date of the transaction or event.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Consultant Name: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The name of the consultant associated with the sale.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Training Level &amp; Model: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The specific course name and type (e.g.,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Ftdis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. L5, SE).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Sales Revenue &amp; Fees: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The financial amount generated from each transaction.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Channel: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The marketing source (e.g., TV Ad, Facebook Page) that drove the lead or sale.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Call Type: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Whether the call was paid or unpaid.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Area Code: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The geographic location of the client.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Data Size: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The dataset contains 1216  rows, representing every transaction for the year.</a:t>
            </a:r>
          </a:p>
        </p:txBody>
      </p:sp>
    </p:spTree>
    <p:extLst>
      <p:ext uri="{BB962C8B-B14F-4D97-AF65-F5344CB8AC3E}">
        <p14:creationId xmlns:p14="http://schemas.microsoft.com/office/powerpoint/2010/main" val="3352802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60D3C-BB0A-4117-99E2-F37F0AE25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AIM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94582-D2E5-4B0D-976B-E64D403B08E1}"/>
              </a:ext>
            </a:extLst>
          </p:cNvPr>
          <p:cNvSpPr txBox="1"/>
          <p:nvPr/>
        </p:nvSpPr>
        <p:spPr>
          <a:xfrm>
            <a:off x="1142999" y="2721114"/>
            <a:ext cx="10744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 Black" panose="020B0A04020102020204" pitchFamily="34" charset="0"/>
              </a:rPr>
              <a:t>To increase the academy's market share and profitability by optimizing marketing spend and consultant performance.</a:t>
            </a:r>
            <a:endParaRPr lang="en-IN" sz="2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550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600662-B7BE-4578-A996-E2AD9595F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399" y="2406467"/>
            <a:ext cx="9103659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high-quality, in-demand training models that empower individuals with the skills needed to succeed in their careers. We will achieve this by leveraging data-driven insights to refine our curriculum, enhance our marketing efforts, and empower our consultants to deliver exceptional value.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08049A-7574-467A-A5D5-0C1D3246C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259" y="919166"/>
            <a:ext cx="9103659" cy="369332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dirty="0"/>
              <a:t>MISSION AND VISION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B84DA9-9CDD-48B3-85D6-22E8BE373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760684"/>
            <a:ext cx="910365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be the leading professional training academy in the market, recognized for our innovative learning models, industry-best success rates, and commitment to student empowerment. We aim to expand our reach by strategically investing in high-performing channels and developing a culture of continuous improvement based on data.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400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DA2C0-AFE1-4CAA-98CB-EC65F016F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666" y="255494"/>
            <a:ext cx="10353762" cy="118334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Data Cleaning and Preparation </a:t>
            </a:r>
            <a:endParaRPr lang="en-IN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3F0239-099A-4207-8B55-2E1BBF1F050D}"/>
              </a:ext>
            </a:extLst>
          </p:cNvPr>
          <p:cNvSpPr txBox="1"/>
          <p:nvPr/>
        </p:nvSpPr>
        <p:spPr>
          <a:xfrm>
            <a:off x="212911" y="1290917"/>
            <a:ext cx="11766177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>
              <a:latin typeface="Arial Black" panose="020B0A04020102020204" pitchFamily="34" charset="0"/>
            </a:endParaRPr>
          </a:p>
          <a:p>
            <a:endParaRPr lang="en-US" sz="1600" dirty="0">
              <a:latin typeface="Arial Black" panose="020B0A04020102020204" pitchFamily="34" charset="0"/>
            </a:endParaRPr>
          </a:p>
          <a:p>
            <a:r>
              <a:rPr lang="en-US" sz="1600" dirty="0">
                <a:latin typeface="Arial Black" panose="020B0A04020102020204" pitchFamily="34" charset="0"/>
              </a:rPr>
              <a:t>Find &amp; Replace: I used the “Find &amp; Replace” function to correct inconsistent spellings and standardize text, such as ensuring all consultant names and channel names were uniform.</a:t>
            </a:r>
          </a:p>
          <a:p>
            <a:endParaRPr lang="en-US" sz="1600" dirty="0">
              <a:latin typeface="Arial Black" panose="020B0A04020102020204" pitchFamily="34" charset="0"/>
            </a:endParaRPr>
          </a:p>
          <a:p>
            <a:r>
              <a:rPr lang="en-US" sz="1600" dirty="0">
                <a:latin typeface="Arial Black" panose="020B0A04020102020204" pitchFamily="34" charset="0"/>
              </a:rPr>
              <a:t>Data Type Formatting: I formatted columns like "Sales Revenue" and "Fees" to a “Number” or “Currency” format to make sure they could be used in calculations. I also formatted the date column to a standard “Date” format.</a:t>
            </a:r>
          </a:p>
          <a:p>
            <a:endParaRPr lang="en-US" sz="1600" dirty="0">
              <a:latin typeface="Arial Black" panose="020B0A04020102020204" pitchFamily="34" charset="0"/>
            </a:endParaRPr>
          </a:p>
          <a:p>
            <a:r>
              <a:rPr lang="en-US" sz="1600" dirty="0">
                <a:latin typeface="Arial Black" panose="020B0A04020102020204" pitchFamily="34" charset="0"/>
              </a:rPr>
              <a:t>Filtering and Sorting: I used “Filter” to identify and inspect rows with missing data or potential errors. I also used “Sort” to quickly organize the data by month, consultant, or channel to look for trends and outliers.</a:t>
            </a:r>
          </a:p>
          <a:p>
            <a:endParaRPr lang="en-US" sz="1600" dirty="0">
              <a:latin typeface="Arial Black" panose="020B0A04020102020204" pitchFamily="34" charset="0"/>
            </a:endParaRPr>
          </a:p>
          <a:p>
            <a:r>
              <a:rPr lang="en-US" sz="1600" dirty="0">
                <a:latin typeface="Arial Black" panose="020B0A04020102020204" pitchFamily="34" charset="0"/>
              </a:rPr>
              <a:t>PivotTables and Formulas: I used “SUMIFS”, “COUNTIFS”, and other formulas to calculate the total figures for sales, calls, and enrollments. I then used “PivotTables” to easily summarize the data by "Consultant," "Channel," and "Month" to create the charts and graphs you see on the dashboard.</a:t>
            </a:r>
          </a:p>
          <a:p>
            <a:endParaRPr lang="en-US" sz="1600" dirty="0">
              <a:latin typeface="Arial Black" panose="020B0A04020102020204" pitchFamily="34" charset="0"/>
            </a:endParaRPr>
          </a:p>
          <a:p>
            <a:r>
              <a:rPr lang="en-US" sz="1600" dirty="0">
                <a:latin typeface="Arial Black" panose="020B0A04020102020204" pitchFamily="34" charset="0"/>
              </a:rPr>
              <a:t>Removing Duplicates: I used the “Remove Duplicates” feature to ensure that each record was unique and there were no repeated rows in the dataset.</a:t>
            </a:r>
            <a:endParaRPr lang="en-IN" sz="1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274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B246ACA-D795-4E4E-B258-2624002357A6}"/>
              </a:ext>
            </a:extLst>
          </p:cNvPr>
          <p:cNvSpPr txBox="1"/>
          <p:nvPr/>
        </p:nvSpPr>
        <p:spPr>
          <a:xfrm>
            <a:off x="968189" y="1448496"/>
            <a:ext cx="6603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 Black" panose="020B0A04020102020204" pitchFamily="34" charset="0"/>
              </a:rPr>
              <a:t>What was our total sales figure for the year?</a:t>
            </a:r>
            <a:endParaRPr lang="en-IN" sz="2000" dirty="0">
              <a:latin typeface="Arial Black" panose="020B0A040201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601EE4-4096-42F4-84D1-9FC728738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8505" y="1865597"/>
            <a:ext cx="2541493" cy="28498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E43BA04-E936-4EAF-8EDA-9BA295ABAA71}"/>
              </a:ext>
            </a:extLst>
          </p:cNvPr>
          <p:cNvSpPr txBox="1"/>
          <p:nvPr/>
        </p:nvSpPr>
        <p:spPr>
          <a:xfrm>
            <a:off x="1195387" y="1907833"/>
            <a:ext cx="6995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Our total sales for the year 2022 were </a:t>
            </a:r>
            <a:r>
              <a:rPr lang="en-US" b="1" dirty="0">
                <a:latin typeface="Arial Black" panose="020B0A04020102020204" pitchFamily="34" charset="0"/>
              </a:rPr>
              <a:t>₹15.99 crore</a:t>
            </a:r>
            <a:r>
              <a:rPr lang="en-US" dirty="0">
                <a:latin typeface="Arial Black" panose="020B0A04020102020204" pitchFamily="34" charset="0"/>
              </a:rPr>
              <a:t>.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752DA0-65A7-4098-80DB-297114916128}"/>
              </a:ext>
            </a:extLst>
          </p:cNvPr>
          <p:cNvSpPr txBox="1"/>
          <p:nvPr/>
        </p:nvSpPr>
        <p:spPr>
          <a:xfrm>
            <a:off x="1003486" y="3075057"/>
            <a:ext cx="73286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 Black" panose="020B0A04020102020204" pitchFamily="34" charset="0"/>
              </a:rPr>
              <a:t>How many of our total calls were converted to a paid service?</a:t>
            </a:r>
            <a:endParaRPr lang="en-IN" sz="2000" dirty="0">
              <a:latin typeface="Arial Black" panose="020B0A040201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2776EA-C939-4F29-842B-E905157B26AF}"/>
              </a:ext>
            </a:extLst>
          </p:cNvPr>
          <p:cNvSpPr txBox="1"/>
          <p:nvPr/>
        </p:nvSpPr>
        <p:spPr>
          <a:xfrm>
            <a:off x="1195387" y="3958002"/>
            <a:ext cx="71367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We converted </a:t>
            </a:r>
            <a:r>
              <a:rPr lang="en-US" b="1" dirty="0">
                <a:latin typeface="Arial Black" panose="020B0A04020102020204" pitchFamily="34" charset="0"/>
              </a:rPr>
              <a:t>926</a:t>
            </a:r>
            <a:r>
              <a:rPr lang="en-US" dirty="0">
                <a:latin typeface="Arial Black" panose="020B0A04020102020204" pitchFamily="34" charset="0"/>
              </a:rPr>
              <a:t> of our calls to a paid service, which is roughly </a:t>
            </a:r>
            <a:r>
              <a:rPr lang="en-US" b="1" dirty="0">
                <a:latin typeface="Arial Black" panose="020B0A04020102020204" pitchFamily="34" charset="0"/>
              </a:rPr>
              <a:t>75%</a:t>
            </a:r>
            <a:r>
              <a:rPr lang="en-US" dirty="0">
                <a:latin typeface="Arial Black" panose="020B0A04020102020204" pitchFamily="34" charset="0"/>
              </a:rPr>
              <a:t> of all calls.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499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63A850-3857-4CBE-AD1E-35B2CC1FF305}"/>
              </a:ext>
            </a:extLst>
          </p:cNvPr>
          <p:cNvSpPr txBox="1"/>
          <p:nvPr/>
        </p:nvSpPr>
        <p:spPr>
          <a:xfrm>
            <a:off x="833716" y="1577421"/>
            <a:ext cx="6172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 Black" panose="020B0A04020102020204" pitchFamily="34" charset="0"/>
              </a:rPr>
              <a:t>How many new courses did we enroll in?</a:t>
            </a:r>
            <a:endParaRPr lang="en-IN" sz="2000" dirty="0"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4CEB80-7177-4257-938B-771A16510C43}"/>
              </a:ext>
            </a:extLst>
          </p:cNvPr>
          <p:cNvSpPr txBox="1"/>
          <p:nvPr/>
        </p:nvSpPr>
        <p:spPr>
          <a:xfrm>
            <a:off x="968187" y="2110140"/>
            <a:ext cx="7611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We had a total of </a:t>
            </a:r>
            <a:r>
              <a:rPr lang="en-US" b="1" dirty="0">
                <a:latin typeface="Arial Black" panose="020B0A04020102020204" pitchFamily="34" charset="0"/>
              </a:rPr>
              <a:t>2,643</a:t>
            </a:r>
            <a:r>
              <a:rPr lang="en-US" dirty="0">
                <a:latin typeface="Arial Black" panose="020B0A04020102020204" pitchFamily="34" charset="0"/>
              </a:rPr>
              <a:t> new course enrollments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77B282-83F6-49F6-93ED-9772F2E42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200" y="406923"/>
            <a:ext cx="2597258" cy="27411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FF3EA9-2F29-4498-8B0F-E4D42A1702A4}"/>
              </a:ext>
            </a:extLst>
          </p:cNvPr>
          <p:cNvSpPr txBox="1"/>
          <p:nvPr/>
        </p:nvSpPr>
        <p:spPr>
          <a:xfrm>
            <a:off x="833716" y="3807085"/>
            <a:ext cx="66966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 Black" panose="020B0A04020102020204" pitchFamily="34" charset="0"/>
              </a:rPr>
              <a:t>Which of our consultants brought in the most sales revenue?</a:t>
            </a:r>
            <a:endParaRPr lang="en-IN" sz="2000" dirty="0">
              <a:latin typeface="Arial Black" panose="020B0A040201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FAABCD-D0C4-4D34-9C83-0B65EF6A571C}"/>
              </a:ext>
            </a:extLst>
          </p:cNvPr>
          <p:cNvSpPr txBox="1"/>
          <p:nvPr/>
        </p:nvSpPr>
        <p:spPr>
          <a:xfrm>
            <a:off x="1171308" y="4634248"/>
            <a:ext cx="69358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 Black" panose="020B0A04020102020204" pitchFamily="34" charset="0"/>
              </a:rPr>
              <a:t>Dary</a:t>
            </a:r>
            <a:r>
              <a:rPr lang="en-US" dirty="0">
                <a:latin typeface="Arial Black" panose="020B0A04020102020204" pitchFamily="34" charset="0"/>
              </a:rPr>
              <a:t> was our top-performing consultant, generating the most sales revenue.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F06023B-DF11-4D79-A8EC-CBA7CD866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729" y="3394249"/>
            <a:ext cx="2597258" cy="291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882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08FB9D-ABA0-4EF2-A7CC-4C70B858FD4C}"/>
              </a:ext>
            </a:extLst>
          </p:cNvPr>
          <p:cNvSpPr txBox="1"/>
          <p:nvPr/>
        </p:nvSpPr>
        <p:spPr>
          <a:xfrm>
            <a:off x="860612" y="643331"/>
            <a:ext cx="83102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 Black" panose="020B0A04020102020204" pitchFamily="34" charset="0"/>
              </a:rPr>
              <a:t>Which marketing channel was most effective at driving enrollments?</a:t>
            </a:r>
            <a:endParaRPr lang="en-IN" sz="2000" dirty="0"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FB7706-450D-4FCD-AABF-C8DFD1F15CB8}"/>
              </a:ext>
            </a:extLst>
          </p:cNvPr>
          <p:cNvSpPr txBox="1"/>
          <p:nvPr/>
        </p:nvSpPr>
        <p:spPr>
          <a:xfrm>
            <a:off x="860612" y="1572868"/>
            <a:ext cx="48495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Our </a:t>
            </a:r>
            <a:r>
              <a:rPr lang="en-US" b="1" dirty="0">
                <a:latin typeface="Arial Black" panose="020B0A04020102020204" pitchFamily="34" charset="0"/>
              </a:rPr>
              <a:t>Television Ads</a:t>
            </a:r>
            <a:r>
              <a:rPr lang="en-US" dirty="0">
                <a:latin typeface="Arial Black" panose="020B0A04020102020204" pitchFamily="34" charset="0"/>
              </a:rPr>
              <a:t> were the most effective channel, leading in total course enrollments.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F6BD3B-3CC5-41E3-846A-8886CBBC4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34533"/>
            <a:ext cx="5633983" cy="27744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72952B-8F51-4F90-AC87-D88CA0BF54FF}"/>
              </a:ext>
            </a:extLst>
          </p:cNvPr>
          <p:cNvSpPr txBox="1"/>
          <p:nvPr/>
        </p:nvSpPr>
        <p:spPr>
          <a:xfrm>
            <a:off x="784244" y="4347320"/>
            <a:ext cx="50023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The </a:t>
            </a:r>
            <a:r>
              <a:rPr lang="en-US" b="1" dirty="0">
                <a:latin typeface="Arial Black" panose="020B0A04020102020204" pitchFamily="34" charset="0"/>
              </a:rPr>
              <a:t>YouTube Channel</a:t>
            </a:r>
            <a:r>
              <a:rPr lang="en-US" dirty="0">
                <a:latin typeface="Arial Black" panose="020B0A04020102020204" pitchFamily="34" charset="0"/>
              </a:rPr>
              <a:t> and </a:t>
            </a:r>
            <a:r>
              <a:rPr lang="en-US" b="1" dirty="0">
                <a:latin typeface="Arial Black" panose="020B0A04020102020204" pitchFamily="34" charset="0"/>
              </a:rPr>
              <a:t>Google Ad</a:t>
            </a:r>
            <a:r>
              <a:rPr lang="en-US" dirty="0">
                <a:latin typeface="Arial Black" panose="020B0A04020102020204" pitchFamily="34" charset="0"/>
              </a:rPr>
              <a:t> are currently our lowest-performing marketing channels.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ED1330-C918-4EE3-929E-EFF20BCD3DFE}"/>
              </a:ext>
            </a:extLst>
          </p:cNvPr>
          <p:cNvSpPr txBox="1"/>
          <p:nvPr/>
        </p:nvSpPr>
        <p:spPr>
          <a:xfrm>
            <a:off x="860612" y="3202339"/>
            <a:ext cx="48495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Arial Black" panose="020B0A04020102020204" pitchFamily="34" charset="0"/>
              </a:rPr>
              <a:t>Which channels are underperforming?</a:t>
            </a:r>
          </a:p>
        </p:txBody>
      </p:sp>
    </p:spTree>
    <p:extLst>
      <p:ext uri="{BB962C8B-B14F-4D97-AF65-F5344CB8AC3E}">
        <p14:creationId xmlns:p14="http://schemas.microsoft.com/office/powerpoint/2010/main" val="368656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4839A-E2E0-4FCE-B39B-CD47EE9CD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609600"/>
            <a:ext cx="10353762" cy="970450"/>
          </a:xfrm>
        </p:spPr>
        <p:txBody>
          <a:bodyPr>
            <a:normAutofit/>
          </a:bodyPr>
          <a:lstStyle/>
          <a:p>
            <a:r>
              <a:rPr lang="en-IN" sz="2000" dirty="0"/>
              <a:t> Top 5 Consultants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C65B0D-2F60-4F69-A1C3-06E27BBB7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755" y="2688192"/>
            <a:ext cx="7248772" cy="331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578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F807E4-B671-4FB7-9A43-C28E71FB2625}"/>
              </a:ext>
            </a:extLst>
          </p:cNvPr>
          <p:cNvSpPr txBox="1"/>
          <p:nvPr/>
        </p:nvSpPr>
        <p:spPr>
          <a:xfrm>
            <a:off x="1638300" y="689393"/>
            <a:ext cx="8915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 Black" panose="020B0A04020102020204" pitchFamily="34" charset="0"/>
              </a:rPr>
              <a:t>Which training model is the most popular with our students?</a:t>
            </a:r>
            <a:endParaRPr lang="en-IN" sz="2000" dirty="0">
              <a:latin typeface="Arial Black" panose="020B0A040201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E6AEB6-0E6C-44E1-B957-C92AB4170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033" y="2053131"/>
            <a:ext cx="3753595" cy="32987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64E502-2278-4FBA-B6E5-7778DA3D5ACF}"/>
              </a:ext>
            </a:extLst>
          </p:cNvPr>
          <p:cNvSpPr txBox="1"/>
          <p:nvPr/>
        </p:nvSpPr>
        <p:spPr>
          <a:xfrm>
            <a:off x="5617508" y="3078939"/>
            <a:ext cx="59355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The </a:t>
            </a:r>
            <a:r>
              <a:rPr lang="en-US" b="1" dirty="0">
                <a:latin typeface="Arial Black" panose="020B0A04020102020204" pitchFamily="34" charset="0"/>
              </a:rPr>
              <a:t>GK </a:t>
            </a:r>
            <a:r>
              <a:rPr lang="en-US" dirty="0">
                <a:latin typeface="Arial Black" panose="020B0A04020102020204" pitchFamily="34" charset="0"/>
              </a:rPr>
              <a:t>model is our most popular training model, with the highest number of enrollments.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349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6E0E00A-0DC7-442A-80BE-A2F5F8E0B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143" y="352706"/>
            <a:ext cx="3213847" cy="40919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D46C28-1C02-41FF-85A2-FB2EC42E9D27}"/>
              </a:ext>
            </a:extLst>
          </p:cNvPr>
          <p:cNvSpPr txBox="1"/>
          <p:nvPr/>
        </p:nvSpPr>
        <p:spPr>
          <a:xfrm>
            <a:off x="361069" y="1856800"/>
            <a:ext cx="6395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Which training level generates the most revenue?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459D2E6C-6196-4050-B71E-0F3107BE1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069" y="2413337"/>
            <a:ext cx="773406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At which level did we have the highest number of enrolled courses?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Where on the graph did course enrollment drop the most?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Does the line show that our enrollment is going up or down over time?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F17B6E0-097B-4FCD-9396-53F8A938D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5741" y="4558553"/>
            <a:ext cx="2635624" cy="229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754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2112B-A9A4-4299-8C5B-08ECB6D3F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Total paid and unpaid calls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F5163D-E00B-4719-9753-92BFCE49C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8843" y="2473445"/>
            <a:ext cx="1987468" cy="220694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3E12843-5D4A-4D22-A67E-EF70F0F95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7776" y="2940587"/>
            <a:ext cx="560126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Total Paid Calls: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926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Total Unpaid Calls: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311</a:t>
            </a:r>
          </a:p>
        </p:txBody>
      </p:sp>
    </p:spTree>
    <p:extLst>
      <p:ext uri="{BB962C8B-B14F-4D97-AF65-F5344CB8AC3E}">
        <p14:creationId xmlns:p14="http://schemas.microsoft.com/office/powerpoint/2010/main" val="393845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CFE060-8B35-4826-ABA3-BD2624AEB5D1}"/>
              </a:ext>
            </a:extLst>
          </p:cNvPr>
          <p:cNvSpPr txBox="1"/>
          <p:nvPr/>
        </p:nvSpPr>
        <p:spPr>
          <a:xfrm>
            <a:off x="3056965" y="770075"/>
            <a:ext cx="6605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 Black" panose="020B0A04020102020204" pitchFamily="34" charset="0"/>
              </a:rPr>
              <a:t>Which specific area is our strongest market?</a:t>
            </a:r>
            <a:endParaRPr lang="en-IN" sz="2000" dirty="0"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C657A0-5E55-4383-BCE7-3999268F0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186" y="2238883"/>
            <a:ext cx="3761558" cy="32677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FB6449-C7FE-4A60-A772-FA4C97126802}"/>
              </a:ext>
            </a:extLst>
          </p:cNvPr>
          <p:cNvSpPr txBox="1"/>
          <p:nvPr/>
        </p:nvSpPr>
        <p:spPr>
          <a:xfrm>
            <a:off x="5227544" y="3334434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The area with the </a:t>
            </a:r>
            <a:r>
              <a:rPr lang="en-US" b="1" dirty="0">
                <a:latin typeface="Arial Black" panose="020B0A04020102020204" pitchFamily="34" charset="0"/>
              </a:rPr>
              <a:t>219</a:t>
            </a:r>
            <a:r>
              <a:rPr lang="en-US" dirty="0">
                <a:latin typeface="Arial Black" panose="020B0A04020102020204" pitchFamily="34" charset="0"/>
              </a:rPr>
              <a:t> code is our strongest market, generating the most business.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149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B07DF-C7CF-4B5B-B9DF-9CB3BD530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Total earnings by month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151337-E633-4C0D-BF0F-713D8A406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888" y="2556128"/>
            <a:ext cx="4784136" cy="221304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425C1E2-CD77-47AA-B00C-ABAC82E7B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76" y="2369986"/>
            <a:ext cx="679975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Highest Earning Month: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The peak of the graph appears to be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September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Lowest Earning Month: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The lowest points on the graph are likely at the beginning of the year, possibly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January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February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Average Earnings: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The dashboard shows the average monthly earnings were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₹2,46,00,00,000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117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DAEB12-0DC2-4F96-A6A8-C6F094DDD3C0}"/>
              </a:ext>
            </a:extLst>
          </p:cNvPr>
          <p:cNvSpPr txBox="1"/>
          <p:nvPr/>
        </p:nvSpPr>
        <p:spPr>
          <a:xfrm>
            <a:off x="2928097" y="875711"/>
            <a:ext cx="6098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latin typeface="Arial Black" panose="020B0A04020102020204" pitchFamily="34" charset="0"/>
              </a:rPr>
              <a:t>Strategic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07631E-D634-499A-A1E3-F10BE3B096DE}"/>
              </a:ext>
            </a:extLst>
          </p:cNvPr>
          <p:cNvSpPr txBox="1"/>
          <p:nvPr/>
        </p:nvSpPr>
        <p:spPr>
          <a:xfrm>
            <a:off x="1315570" y="2129589"/>
            <a:ext cx="9560859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 Black" panose="020B0A04020102020204" pitchFamily="34" charset="0"/>
              </a:rPr>
              <a:t>Expand on Success:</a:t>
            </a:r>
            <a:r>
              <a:rPr lang="en-US" sz="2000" dirty="0">
                <a:latin typeface="Arial Black" panose="020B0A04020102020204" pitchFamily="34" charset="0"/>
              </a:rPr>
              <a:t> “</a:t>
            </a:r>
            <a:r>
              <a:rPr lang="en-US" dirty="0">
                <a:latin typeface="Arial Black" panose="020B0A04020102020204" pitchFamily="34" charset="0"/>
              </a:rPr>
              <a:t>Allocate an additional </a:t>
            </a:r>
            <a:r>
              <a:rPr lang="en-US" b="1" dirty="0">
                <a:latin typeface="Arial Black" panose="020B0A04020102020204" pitchFamily="34" charset="0"/>
              </a:rPr>
              <a:t>30%</a:t>
            </a:r>
            <a:r>
              <a:rPr lang="en-US" dirty="0">
                <a:latin typeface="Arial Black" panose="020B0A04020102020204" pitchFamily="34" charset="0"/>
              </a:rPr>
              <a:t> of our marketing budget to Television Ads, given their strong performance. Explore partnerships with other local television networks.”</a:t>
            </a:r>
          </a:p>
          <a:p>
            <a:endParaRPr lang="en-IN" sz="2000" dirty="0"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5E3EDA-3A68-43E9-B2C6-0579265F91CC}"/>
              </a:ext>
            </a:extLst>
          </p:cNvPr>
          <p:cNvSpPr txBox="1"/>
          <p:nvPr/>
        </p:nvSpPr>
        <p:spPr>
          <a:xfrm>
            <a:off x="1315570" y="3293076"/>
            <a:ext cx="902521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 Black" panose="020B0A04020102020204" pitchFamily="34" charset="0"/>
              </a:rPr>
              <a:t>Leverage Top Talent:</a:t>
            </a:r>
            <a:r>
              <a:rPr lang="en-US" sz="2000" dirty="0">
                <a:latin typeface="Arial Black" panose="020B0A04020102020204" pitchFamily="34" charset="0"/>
              </a:rPr>
              <a:t> </a:t>
            </a:r>
            <a:r>
              <a:rPr lang="en-US" dirty="0">
                <a:latin typeface="Arial Black" panose="020B0A04020102020204" pitchFamily="34" charset="0"/>
              </a:rPr>
              <a:t>“Initiate a mentorship program where our top-performing consultant, </a:t>
            </a:r>
            <a:r>
              <a:rPr lang="en-US" b="1" dirty="0" err="1">
                <a:latin typeface="Arial Black" panose="020B0A04020102020204" pitchFamily="34" charset="0"/>
              </a:rPr>
              <a:t>Dary</a:t>
            </a:r>
            <a:r>
              <a:rPr lang="en-US" dirty="0">
                <a:latin typeface="Arial Black" panose="020B0A04020102020204" pitchFamily="34" charset="0"/>
              </a:rPr>
              <a:t>, can share best practices with underperforming consultants.”</a:t>
            </a:r>
            <a:endParaRPr lang="en-IN" sz="2000" dirty="0">
              <a:latin typeface="Arial Black" panose="020B0A040201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C0DD284-9B9E-4C47-85B9-A73C695B8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5570" y="4580982"/>
            <a:ext cx="873091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The Biggest Win: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TV ads are our top-performing channel.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The Best Performer: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Dary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is our top consultant in sales.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The Main Opportunity: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The FC and GK models are areas for growth.</a:t>
            </a:r>
          </a:p>
        </p:txBody>
      </p:sp>
    </p:spTree>
    <p:extLst>
      <p:ext uri="{BB962C8B-B14F-4D97-AF65-F5344CB8AC3E}">
        <p14:creationId xmlns:p14="http://schemas.microsoft.com/office/powerpoint/2010/main" val="872996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AB3186-F5D8-4013-83F3-88BA5E935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83" y="1276049"/>
            <a:ext cx="11161058" cy="51381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FF8551-F255-4400-A9D9-2E96C985D772}"/>
              </a:ext>
            </a:extLst>
          </p:cNvPr>
          <p:cNvSpPr txBox="1"/>
          <p:nvPr/>
        </p:nvSpPr>
        <p:spPr>
          <a:xfrm>
            <a:off x="3805518" y="443753"/>
            <a:ext cx="32407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Arial Black" panose="020B0A04020102020204" pitchFamily="34" charset="0"/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2942798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BE9645-D530-400D-8A18-B3725984D250}"/>
              </a:ext>
            </a:extLst>
          </p:cNvPr>
          <p:cNvSpPr txBox="1"/>
          <p:nvPr/>
        </p:nvSpPr>
        <p:spPr>
          <a:xfrm>
            <a:off x="3765176" y="3028890"/>
            <a:ext cx="4208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4088919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403</TotalTime>
  <Words>962</Words>
  <Application>Microsoft Office PowerPoint</Application>
  <PresentationFormat>Widescreen</PresentationFormat>
  <Paragraphs>74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Black</vt:lpstr>
      <vt:lpstr>Calisto MT</vt:lpstr>
      <vt:lpstr>Wingdings 2</vt:lpstr>
      <vt:lpstr>Slate</vt:lpstr>
      <vt:lpstr>Data Decode Academy: Performance Metrics 2025</vt:lpstr>
      <vt:lpstr>Data Overview</vt:lpstr>
      <vt:lpstr>AIM</vt:lpstr>
      <vt:lpstr>PowerPoint Presentation</vt:lpstr>
      <vt:lpstr>Data Cleaning and Preparation </vt:lpstr>
      <vt:lpstr>PowerPoint Presentation</vt:lpstr>
      <vt:lpstr>PowerPoint Presentation</vt:lpstr>
      <vt:lpstr>PowerPoint Presentation</vt:lpstr>
      <vt:lpstr> Top 5 Consultants</vt:lpstr>
      <vt:lpstr>PowerPoint Presentation</vt:lpstr>
      <vt:lpstr>PowerPoint Presentation</vt:lpstr>
      <vt:lpstr>Total paid and unpaid calls</vt:lpstr>
      <vt:lpstr>PowerPoint Presentation</vt:lpstr>
      <vt:lpstr>Total earnings by month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Decode Academy: Performance Metrics 2022 A Review of Key Business &amp; Marketing Insights</dc:title>
  <dc:creator>kashish shivani</dc:creator>
  <cp:lastModifiedBy>kashish shivani</cp:lastModifiedBy>
  <cp:revision>20</cp:revision>
  <dcterms:created xsi:type="dcterms:W3CDTF">2025-09-24T05:19:37Z</dcterms:created>
  <dcterms:modified xsi:type="dcterms:W3CDTF">2025-09-24T12:02:48Z</dcterms:modified>
</cp:coreProperties>
</file>